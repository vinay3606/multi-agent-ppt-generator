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822960" y="731520"/>
            <a:ext cx="4572000" cy="274320"/>
          </a:xfrm>
          <a:prstGeom prst="rect">
            <a:avLst/>
          </a:prstGeom>
          <a:noFill/>
        </p:spPr>
        <p:txBody>
          <a:bodyPr wrap="square">
            <a:spAutoFit/>
          </a:bodyPr>
          <a:lstStyle/>
          <a:p>
            <a:pPr>
              <a:defRPr sz="1000" b="1">
                <a:solidFill>
                  <a:srgbClr val="2A5F91"/>
                </a:solidFill>
                <a:latin typeface="Aptos"/>
              </a:defRPr>
            </a:pPr>
            <a:r>
              <a:t>URBANCART | DIGITAL COMMERCE STRATEGY</a:t>
            </a:r>
          </a:p>
        </p:txBody>
      </p:sp>
      <p:sp>
        <p:nvSpPr>
          <p:cNvPr id="4" name="TextBox 3"/>
          <p:cNvSpPr txBox="1"/>
          <p:nvPr/>
        </p:nvSpPr>
        <p:spPr>
          <a:xfrm>
            <a:off x="822960" y="1508760"/>
            <a:ext cx="9875520" cy="914400"/>
          </a:xfrm>
          <a:prstGeom prst="rect">
            <a:avLst/>
          </a:prstGeom>
          <a:noFill/>
        </p:spPr>
        <p:txBody>
          <a:bodyPr wrap="square">
            <a:spAutoFit/>
          </a:bodyPr>
          <a:lstStyle/>
          <a:p>
            <a:pPr>
              <a:defRPr sz="3400" b="1">
                <a:solidFill>
                  <a:srgbClr val="162D44"/>
                </a:solidFill>
                <a:latin typeface="Aptos"/>
              </a:defRPr>
            </a:pPr>
            <a:r>
              <a:t>Building a Smarter,</a:t>
            </a:r>
            <a:br/>
            <a:r>
              <a:t>Data-Driven Commerce Experience</a:t>
            </a:r>
          </a:p>
        </p:txBody>
      </p:sp>
      <p:sp>
        <p:nvSpPr>
          <p:cNvPr id="5" name="TextBox 4"/>
          <p:cNvSpPr txBox="1"/>
          <p:nvPr/>
        </p:nvSpPr>
        <p:spPr>
          <a:xfrm>
            <a:off x="822960" y="3703320"/>
            <a:ext cx="8961120" cy="731520"/>
          </a:xfrm>
          <a:prstGeom prst="rect">
            <a:avLst/>
          </a:prstGeom>
          <a:noFill/>
        </p:spPr>
        <p:txBody>
          <a:bodyPr wrap="square">
            <a:spAutoFit/>
          </a:bodyPr>
          <a:lstStyle/>
          <a:p>
            <a:pPr>
              <a:defRPr sz="1700" b="0">
                <a:solidFill>
                  <a:srgbClr val="69737D"/>
                </a:solidFill>
                <a:latin typeface="Aptos"/>
              </a:defRPr>
            </a:pPr>
            <a:r>
              <a:t>How artificial intelligence and analytics can improve customer experience, planning, and business decision-making.</a:t>
            </a:r>
          </a:p>
        </p:txBody>
      </p:sp>
      <p:sp>
        <p:nvSpPr>
          <p:cNvPr id="6" name="TextBox 5"/>
          <p:cNvSpPr txBox="1"/>
          <p:nvPr/>
        </p:nvSpPr>
        <p:spPr>
          <a:xfrm>
            <a:off x="822960" y="5760720"/>
            <a:ext cx="3657600" cy="274320"/>
          </a:xfrm>
          <a:prstGeom prst="rect">
            <a:avLst/>
          </a:prstGeom>
          <a:noFill/>
        </p:spPr>
        <p:txBody>
          <a:bodyPr wrap="square">
            <a:spAutoFit/>
          </a:bodyPr>
          <a:lstStyle/>
          <a:p>
            <a:pPr>
              <a:defRPr sz="1100" b="1">
                <a:solidFill>
                  <a:srgbClr val="232D37"/>
                </a:solidFill>
                <a:latin typeface="Aptos"/>
              </a:defRPr>
            </a:pPr>
            <a:r>
              <a:t>Strategy &amp; Innovation Presentation</a:t>
            </a:r>
          </a:p>
        </p:txBody>
      </p:sp>
      <p:sp>
        <p:nvSpPr>
          <p:cNvPr id="7" name="Rounded Rectangle 6"/>
          <p:cNvSpPr/>
          <p:nvPr/>
        </p:nvSpPr>
        <p:spPr>
          <a:xfrm>
            <a:off x="8046720" y="1280160"/>
            <a:ext cx="1417320" cy="1234440"/>
          </a:xfrm>
          <a:prstGeom prst="round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11312" y="1737360"/>
            <a:ext cx="1097280" cy="274320"/>
          </a:xfrm>
          <a:prstGeom prst="rect">
            <a:avLst/>
          </a:prstGeom>
          <a:noFill/>
        </p:spPr>
        <p:txBody>
          <a:bodyPr wrap="square">
            <a:spAutoFit/>
          </a:bodyPr>
          <a:lstStyle/>
          <a:p>
            <a:pPr>
              <a:defRPr sz="900" b="1">
                <a:solidFill>
                  <a:srgbClr val="FFFFFF"/>
                </a:solidFill>
                <a:latin typeface="Aptos"/>
              </a:defRPr>
            </a:pPr>
            <a:r>
              <a:t>CUSTOMER</a:t>
            </a:r>
          </a:p>
        </p:txBody>
      </p:sp>
      <p:sp>
        <p:nvSpPr>
          <p:cNvPr id="9" name="Rounded Rectangle 8"/>
          <p:cNvSpPr/>
          <p:nvPr/>
        </p:nvSpPr>
        <p:spPr>
          <a:xfrm>
            <a:off x="9738360" y="1280160"/>
            <a:ext cx="1417320" cy="1234440"/>
          </a:xfrm>
          <a:prstGeom prst="roundRect">
            <a:avLst/>
          </a:prstGeom>
          <a:solidFill>
            <a:srgbClr val="2A5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902952" y="1737360"/>
            <a:ext cx="1097280" cy="274320"/>
          </a:xfrm>
          <a:prstGeom prst="rect">
            <a:avLst/>
          </a:prstGeom>
          <a:noFill/>
        </p:spPr>
        <p:txBody>
          <a:bodyPr wrap="square">
            <a:spAutoFit/>
          </a:bodyPr>
          <a:lstStyle/>
          <a:p>
            <a:pPr>
              <a:defRPr sz="900" b="1">
                <a:solidFill>
                  <a:srgbClr val="FFFFFF"/>
                </a:solidFill>
                <a:latin typeface="Aptos"/>
              </a:defRPr>
            </a:pPr>
            <a:r>
              <a:t>DATA</a:t>
            </a:r>
          </a:p>
        </p:txBody>
      </p:sp>
      <p:sp>
        <p:nvSpPr>
          <p:cNvPr id="11" name="Rounded Rectangle 10"/>
          <p:cNvSpPr/>
          <p:nvPr/>
        </p:nvSpPr>
        <p:spPr>
          <a:xfrm>
            <a:off x="8046720" y="2926080"/>
            <a:ext cx="1417320" cy="1234440"/>
          </a:xfrm>
          <a:prstGeom prst="roundRect">
            <a:avLst/>
          </a:prstGeom>
          <a:solidFill>
            <a:srgbClr val="2A5F9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211312" y="3383280"/>
            <a:ext cx="1097280" cy="274320"/>
          </a:xfrm>
          <a:prstGeom prst="rect">
            <a:avLst/>
          </a:prstGeom>
          <a:noFill/>
        </p:spPr>
        <p:txBody>
          <a:bodyPr wrap="square">
            <a:spAutoFit/>
          </a:bodyPr>
          <a:lstStyle/>
          <a:p>
            <a:pPr>
              <a:defRPr sz="900" b="1">
                <a:solidFill>
                  <a:srgbClr val="FFFFFF"/>
                </a:solidFill>
                <a:latin typeface="Aptos"/>
              </a:defRPr>
            </a:pPr>
            <a:r>
              <a:t>AI</a:t>
            </a:r>
          </a:p>
        </p:txBody>
      </p:sp>
      <p:sp>
        <p:nvSpPr>
          <p:cNvPr id="13" name="Rounded Rectangle 12"/>
          <p:cNvSpPr/>
          <p:nvPr/>
        </p:nvSpPr>
        <p:spPr>
          <a:xfrm>
            <a:off x="9738360" y="2926080"/>
            <a:ext cx="1417320" cy="1234440"/>
          </a:xfrm>
          <a:prstGeom prst="round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902952" y="3383280"/>
            <a:ext cx="1097280" cy="274320"/>
          </a:xfrm>
          <a:prstGeom prst="rect">
            <a:avLst/>
          </a:prstGeom>
          <a:noFill/>
        </p:spPr>
        <p:txBody>
          <a:bodyPr wrap="square">
            <a:spAutoFit/>
          </a:bodyPr>
          <a:lstStyle/>
          <a:p>
            <a:pPr>
              <a:defRPr sz="900" b="1">
                <a:solidFill>
                  <a:srgbClr val="FFFFFF"/>
                </a:solidFill>
                <a:latin typeface="Aptos"/>
              </a:defRPr>
            </a:pPr>
            <a:r>
              <a:t>DECISION</a:t>
            </a:r>
          </a:p>
        </p:txBody>
      </p:sp>
      <p:sp>
        <p:nvSpPr>
          <p:cNvPr id="15" name="TextBox 14"/>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6" name="TextBox 15"/>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01  |  COMPANY OVERVIEW</a:t>
            </a:r>
          </a:p>
        </p:txBody>
      </p:sp>
      <p:sp>
        <p:nvSpPr>
          <p:cNvPr id="4" name="TextBox 3"/>
          <p:cNvSpPr txBox="1"/>
          <p:nvPr/>
        </p:nvSpPr>
        <p:spPr>
          <a:xfrm>
            <a:off x="731520" y="960120"/>
            <a:ext cx="9875520" cy="548640"/>
          </a:xfrm>
          <a:prstGeom prst="rect">
            <a:avLst/>
          </a:prstGeom>
          <a:noFill/>
        </p:spPr>
        <p:txBody>
          <a:bodyPr wrap="square">
            <a:spAutoFit/>
          </a:bodyPr>
          <a:lstStyle/>
          <a:p>
            <a:pPr>
              <a:defRPr sz="2700" b="1">
                <a:solidFill>
                  <a:srgbClr val="162D44"/>
                </a:solidFill>
                <a:latin typeface="Aptos"/>
              </a:defRPr>
            </a:pPr>
            <a:r>
              <a:t>A digital commerce business focused on better customer experiences</a:t>
            </a:r>
          </a:p>
        </p:txBody>
      </p:sp>
      <p:sp>
        <p:nvSpPr>
          <p:cNvPr id="5" name="TextBox 4"/>
          <p:cNvSpPr txBox="1"/>
          <p:nvPr/>
        </p:nvSpPr>
        <p:spPr>
          <a:xfrm>
            <a:off x="731520" y="1783080"/>
            <a:ext cx="5577840" cy="3200400"/>
          </a:xfrm>
          <a:prstGeom prst="rect">
            <a:avLst/>
          </a:prstGeom>
          <a:noFill/>
        </p:spPr>
        <p:txBody>
          <a:bodyPr wrap="square">
            <a:spAutoFit/>
          </a:bodyPr>
          <a:lstStyle/>
          <a:p>
            <a:pPr>
              <a:defRPr sz="1400" b="0">
                <a:solidFill>
                  <a:srgbClr val="232D37"/>
                </a:solidFill>
                <a:latin typeface="Aptos"/>
              </a:defRPr>
            </a:pPr>
            <a:r>
              <a:t>UrbanCart operates in a fast-moving digital commerce environment where customers expect relevant products, convenient interactions, and quick access to support.</a:t>
            </a:r>
            <a:br/>
            <a:br/>
            <a:r>
              <a:t>As the business grows, the volume of customer interactions, transactions, and operational data creates an opportunity to use analytics and artificial intelligence to improve how the company serves customers and makes decisions.</a:t>
            </a:r>
          </a:p>
        </p:txBody>
      </p:sp>
      <p:sp>
        <p:nvSpPr>
          <p:cNvPr id="6" name="Rounded Rectangle 5"/>
          <p:cNvSpPr/>
          <p:nvPr/>
        </p:nvSpPr>
        <p:spPr>
          <a:xfrm>
            <a:off x="6812280" y="1783080"/>
            <a:ext cx="4480560" cy="1097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068312" y="1984248"/>
            <a:ext cx="3977640" cy="320040"/>
          </a:xfrm>
          <a:prstGeom prst="rect">
            <a:avLst/>
          </a:prstGeom>
          <a:noFill/>
        </p:spPr>
        <p:txBody>
          <a:bodyPr wrap="square">
            <a:spAutoFit/>
          </a:bodyPr>
          <a:lstStyle/>
          <a:p>
            <a:pPr>
              <a:defRPr sz="1300" b="1">
                <a:solidFill>
                  <a:srgbClr val="162D44"/>
                </a:solidFill>
                <a:latin typeface="Aptos"/>
              </a:defRPr>
            </a:pPr>
            <a:r>
              <a:t>Business Focus</a:t>
            </a:r>
          </a:p>
        </p:txBody>
      </p:sp>
      <p:sp>
        <p:nvSpPr>
          <p:cNvPr id="8" name="TextBox 7"/>
          <p:cNvSpPr txBox="1"/>
          <p:nvPr/>
        </p:nvSpPr>
        <p:spPr>
          <a:xfrm>
            <a:off x="7068312" y="2404872"/>
            <a:ext cx="3977640" cy="274319"/>
          </a:xfrm>
          <a:prstGeom prst="rect">
            <a:avLst/>
          </a:prstGeom>
          <a:noFill/>
        </p:spPr>
        <p:txBody>
          <a:bodyPr wrap="square">
            <a:spAutoFit/>
          </a:bodyPr>
          <a:lstStyle/>
          <a:p>
            <a:pPr>
              <a:defRPr sz="1050" b="0">
                <a:solidFill>
                  <a:srgbClr val="69737D"/>
                </a:solidFill>
                <a:latin typeface="Aptos"/>
              </a:defRPr>
            </a:pPr>
            <a:r>
              <a:t>Customer experience, operational efficiency, and data-driven decision-making.</a:t>
            </a:r>
          </a:p>
        </p:txBody>
      </p:sp>
      <p:sp>
        <p:nvSpPr>
          <p:cNvPr id="9" name="Rounded Rectangle 8"/>
          <p:cNvSpPr/>
          <p:nvPr/>
        </p:nvSpPr>
        <p:spPr>
          <a:xfrm>
            <a:off x="6812280" y="3063240"/>
            <a:ext cx="4480560" cy="1097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068312" y="3264408"/>
            <a:ext cx="3977640" cy="320040"/>
          </a:xfrm>
          <a:prstGeom prst="rect">
            <a:avLst/>
          </a:prstGeom>
          <a:noFill/>
        </p:spPr>
        <p:txBody>
          <a:bodyPr wrap="square">
            <a:spAutoFit/>
          </a:bodyPr>
          <a:lstStyle/>
          <a:p>
            <a:pPr>
              <a:defRPr sz="1300" b="1">
                <a:solidFill>
                  <a:srgbClr val="162D44"/>
                </a:solidFill>
                <a:latin typeface="Aptos"/>
              </a:defRPr>
            </a:pPr>
            <a:r>
              <a:t>Core Opportunity</a:t>
            </a:r>
          </a:p>
        </p:txBody>
      </p:sp>
      <p:sp>
        <p:nvSpPr>
          <p:cNvPr id="11" name="TextBox 10"/>
          <p:cNvSpPr txBox="1"/>
          <p:nvPr/>
        </p:nvSpPr>
        <p:spPr>
          <a:xfrm>
            <a:off x="7068312" y="3685032"/>
            <a:ext cx="3977640" cy="274319"/>
          </a:xfrm>
          <a:prstGeom prst="rect">
            <a:avLst/>
          </a:prstGeom>
          <a:noFill/>
        </p:spPr>
        <p:txBody>
          <a:bodyPr wrap="square">
            <a:spAutoFit/>
          </a:bodyPr>
          <a:lstStyle/>
          <a:p>
            <a:pPr>
              <a:defRPr sz="1050" b="0">
                <a:solidFill>
                  <a:srgbClr val="69737D"/>
                </a:solidFill>
                <a:latin typeface="Aptos"/>
              </a:defRPr>
            </a:pPr>
            <a:r>
              <a:t>Turn business data into actionable insights and intelligent automation.</a:t>
            </a:r>
          </a:p>
        </p:txBody>
      </p:sp>
      <p:sp>
        <p:nvSpPr>
          <p:cNvPr id="12" name="Rounded Rectangle 11"/>
          <p:cNvSpPr/>
          <p:nvPr/>
        </p:nvSpPr>
        <p:spPr>
          <a:xfrm>
            <a:off x="6812280" y="4343400"/>
            <a:ext cx="4480560" cy="1097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7068312" y="4544568"/>
            <a:ext cx="3977640" cy="320040"/>
          </a:xfrm>
          <a:prstGeom prst="rect">
            <a:avLst/>
          </a:prstGeom>
          <a:noFill/>
        </p:spPr>
        <p:txBody>
          <a:bodyPr wrap="square">
            <a:spAutoFit/>
          </a:bodyPr>
          <a:lstStyle/>
          <a:p>
            <a:pPr>
              <a:defRPr sz="1300" b="1">
                <a:solidFill>
                  <a:srgbClr val="162D44"/>
                </a:solidFill>
                <a:latin typeface="Aptos"/>
              </a:defRPr>
            </a:pPr>
            <a:r>
              <a:t>Strategic Direction</a:t>
            </a:r>
          </a:p>
        </p:txBody>
      </p:sp>
      <p:sp>
        <p:nvSpPr>
          <p:cNvPr id="14" name="TextBox 13"/>
          <p:cNvSpPr txBox="1"/>
          <p:nvPr/>
        </p:nvSpPr>
        <p:spPr>
          <a:xfrm>
            <a:off x="7068312" y="4965192"/>
            <a:ext cx="3977640" cy="274319"/>
          </a:xfrm>
          <a:prstGeom prst="rect">
            <a:avLst/>
          </a:prstGeom>
          <a:noFill/>
        </p:spPr>
        <p:txBody>
          <a:bodyPr wrap="square">
            <a:spAutoFit/>
          </a:bodyPr>
          <a:lstStyle/>
          <a:p>
            <a:pPr>
              <a:defRPr sz="1050" b="0">
                <a:solidFill>
                  <a:srgbClr val="69737D"/>
                </a:solidFill>
                <a:latin typeface="Aptos"/>
              </a:defRPr>
            </a:pPr>
            <a:r>
              <a:t>Build scalable AI capabilities around real business problems and measurable outcomes.</a:t>
            </a:r>
          </a:p>
        </p:txBody>
      </p:sp>
      <p:sp>
        <p:nvSpPr>
          <p:cNvPr id="15" name="TextBox 14"/>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6" name="TextBox 15"/>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02  |  BUSINESS CHALLENGE</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Growth creates complexity across the customer and operations journey</a:t>
            </a:r>
          </a:p>
        </p:txBody>
      </p:sp>
      <p:sp>
        <p:nvSpPr>
          <p:cNvPr id="5" name="TextBox 4"/>
          <p:cNvSpPr txBox="1"/>
          <p:nvPr/>
        </p:nvSpPr>
        <p:spPr>
          <a:xfrm>
            <a:off x="731520" y="1691640"/>
            <a:ext cx="10515600" cy="594360"/>
          </a:xfrm>
          <a:prstGeom prst="rect">
            <a:avLst/>
          </a:prstGeom>
          <a:noFill/>
        </p:spPr>
        <p:txBody>
          <a:bodyPr wrap="square">
            <a:spAutoFit/>
          </a:bodyPr>
          <a:lstStyle/>
          <a:p>
            <a:pPr>
              <a:defRPr sz="1400" b="0">
                <a:solidFill>
                  <a:srgbClr val="69737D"/>
                </a:solidFill>
                <a:latin typeface="Aptos"/>
              </a:defRPr>
            </a:pPr>
            <a:r>
              <a:t>UrbanCart needs to manage increasing data and customer expectations while improving visibility into business performance.</a:t>
            </a:r>
          </a:p>
        </p:txBody>
      </p:sp>
      <p:sp>
        <p:nvSpPr>
          <p:cNvPr id="6" name="Rounded Rectangle 5"/>
          <p:cNvSpPr/>
          <p:nvPr/>
        </p:nvSpPr>
        <p:spPr>
          <a:xfrm>
            <a:off x="731520" y="2560320"/>
            <a:ext cx="3429000" cy="2240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987552" y="2761488"/>
            <a:ext cx="2926080" cy="320040"/>
          </a:xfrm>
          <a:prstGeom prst="rect">
            <a:avLst/>
          </a:prstGeom>
          <a:noFill/>
        </p:spPr>
        <p:txBody>
          <a:bodyPr wrap="square">
            <a:spAutoFit/>
          </a:bodyPr>
          <a:lstStyle/>
          <a:p>
            <a:pPr>
              <a:defRPr sz="1300" b="1">
                <a:solidFill>
                  <a:srgbClr val="162D44"/>
                </a:solidFill>
                <a:latin typeface="Aptos"/>
              </a:defRPr>
            </a:pPr>
            <a:r>
              <a:t>Product Discovery</a:t>
            </a:r>
          </a:p>
        </p:txBody>
      </p:sp>
      <p:sp>
        <p:nvSpPr>
          <p:cNvPr id="8" name="TextBox 7"/>
          <p:cNvSpPr txBox="1"/>
          <p:nvPr/>
        </p:nvSpPr>
        <p:spPr>
          <a:xfrm>
            <a:off x="987552" y="3182112"/>
            <a:ext cx="2926080" cy="1417320"/>
          </a:xfrm>
          <a:prstGeom prst="rect">
            <a:avLst/>
          </a:prstGeom>
          <a:noFill/>
        </p:spPr>
        <p:txBody>
          <a:bodyPr wrap="square">
            <a:spAutoFit/>
          </a:bodyPr>
          <a:lstStyle/>
          <a:p>
            <a:pPr>
              <a:defRPr sz="1050" b="0">
                <a:solidFill>
                  <a:srgbClr val="69737D"/>
                </a:solidFill>
                <a:latin typeface="Aptos"/>
              </a:defRPr>
            </a:pPr>
            <a:r>
              <a:t>Customers may struggle to find the most relevant products without personalized recommendations and intelligent search.</a:t>
            </a:r>
          </a:p>
        </p:txBody>
      </p:sp>
      <p:sp>
        <p:nvSpPr>
          <p:cNvPr id="9" name="Rounded Rectangle 8"/>
          <p:cNvSpPr/>
          <p:nvPr/>
        </p:nvSpPr>
        <p:spPr>
          <a:xfrm>
            <a:off x="4370832" y="2560320"/>
            <a:ext cx="3429000" cy="2240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26864" y="2761488"/>
            <a:ext cx="2926080" cy="320040"/>
          </a:xfrm>
          <a:prstGeom prst="rect">
            <a:avLst/>
          </a:prstGeom>
          <a:noFill/>
        </p:spPr>
        <p:txBody>
          <a:bodyPr wrap="square">
            <a:spAutoFit/>
          </a:bodyPr>
          <a:lstStyle/>
          <a:p>
            <a:pPr>
              <a:defRPr sz="1300" b="1">
                <a:solidFill>
                  <a:srgbClr val="162D44"/>
                </a:solidFill>
                <a:latin typeface="Aptos"/>
              </a:defRPr>
            </a:pPr>
            <a:r>
              <a:t>Demand Planning</a:t>
            </a:r>
          </a:p>
        </p:txBody>
      </p:sp>
      <p:sp>
        <p:nvSpPr>
          <p:cNvPr id="11" name="TextBox 10"/>
          <p:cNvSpPr txBox="1"/>
          <p:nvPr/>
        </p:nvSpPr>
        <p:spPr>
          <a:xfrm>
            <a:off x="4626864" y="3182112"/>
            <a:ext cx="2926080" cy="1417320"/>
          </a:xfrm>
          <a:prstGeom prst="rect">
            <a:avLst/>
          </a:prstGeom>
          <a:noFill/>
        </p:spPr>
        <p:txBody>
          <a:bodyPr wrap="square">
            <a:spAutoFit/>
          </a:bodyPr>
          <a:lstStyle/>
          <a:p>
            <a:pPr>
              <a:defRPr sz="1050" b="0">
                <a:solidFill>
                  <a:srgbClr val="69737D"/>
                </a:solidFill>
                <a:latin typeface="Aptos"/>
              </a:defRPr>
            </a:pPr>
            <a:r>
              <a:t>Business teams need better forecasting to understand expected demand and support inventory decisions.</a:t>
            </a:r>
          </a:p>
        </p:txBody>
      </p:sp>
      <p:sp>
        <p:nvSpPr>
          <p:cNvPr id="12" name="Rounded Rectangle 11"/>
          <p:cNvSpPr/>
          <p:nvPr/>
        </p:nvSpPr>
        <p:spPr>
          <a:xfrm>
            <a:off x="8010144" y="2560320"/>
            <a:ext cx="3429000" cy="224028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266175" y="2761488"/>
            <a:ext cx="2926080" cy="320040"/>
          </a:xfrm>
          <a:prstGeom prst="rect">
            <a:avLst/>
          </a:prstGeom>
          <a:noFill/>
        </p:spPr>
        <p:txBody>
          <a:bodyPr wrap="square">
            <a:spAutoFit/>
          </a:bodyPr>
          <a:lstStyle/>
          <a:p>
            <a:pPr>
              <a:defRPr sz="1300" b="1">
                <a:solidFill>
                  <a:srgbClr val="162D44"/>
                </a:solidFill>
                <a:latin typeface="Aptos"/>
              </a:defRPr>
            </a:pPr>
            <a:r>
              <a:t>Customer Support</a:t>
            </a:r>
          </a:p>
        </p:txBody>
      </p:sp>
      <p:sp>
        <p:nvSpPr>
          <p:cNvPr id="14" name="TextBox 13"/>
          <p:cNvSpPr txBox="1"/>
          <p:nvPr/>
        </p:nvSpPr>
        <p:spPr>
          <a:xfrm>
            <a:off x="8266175" y="3182112"/>
            <a:ext cx="2926080" cy="1417320"/>
          </a:xfrm>
          <a:prstGeom prst="rect">
            <a:avLst/>
          </a:prstGeom>
          <a:noFill/>
        </p:spPr>
        <p:txBody>
          <a:bodyPr wrap="square">
            <a:spAutoFit/>
          </a:bodyPr>
          <a:lstStyle/>
          <a:p>
            <a:pPr>
              <a:defRPr sz="1050" b="0">
                <a:solidFill>
                  <a:srgbClr val="69737D"/>
                </a:solidFill>
                <a:latin typeface="Aptos"/>
              </a:defRPr>
            </a:pPr>
            <a:r>
              <a:t>Common customer queries can create repetitive manual work and delay access to useful information.</a:t>
            </a:r>
          </a:p>
        </p:txBody>
      </p:sp>
      <p:sp>
        <p:nvSpPr>
          <p:cNvPr id="15" name="TextBox 14"/>
          <p:cNvSpPr txBox="1"/>
          <p:nvPr/>
        </p:nvSpPr>
        <p:spPr>
          <a:xfrm>
            <a:off x="777240" y="5349240"/>
            <a:ext cx="10424160" cy="548640"/>
          </a:xfrm>
          <a:prstGeom prst="rect">
            <a:avLst/>
          </a:prstGeom>
          <a:noFill/>
        </p:spPr>
        <p:txBody>
          <a:bodyPr wrap="square">
            <a:spAutoFit/>
          </a:bodyPr>
          <a:lstStyle/>
          <a:p>
            <a:pPr>
              <a:defRPr sz="1500" b="1">
                <a:solidFill>
                  <a:srgbClr val="162D44"/>
                </a:solidFill>
                <a:latin typeface="Aptos"/>
              </a:defRPr>
            </a:pPr>
            <a:r>
              <a:t>The challenge is not simply collecting more data—it is converting available information into faster, more useful business actions.</a:t>
            </a:r>
          </a:p>
        </p:txBody>
      </p:sp>
      <p:sp>
        <p:nvSpPr>
          <p:cNvPr id="16" name="TextBox 15"/>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7" name="TextBox 16"/>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03  |  PROPOSED AI &amp; DATA STRATEGY</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A connected approach to intelligence, automation, and insight</a:t>
            </a:r>
          </a:p>
        </p:txBody>
      </p:sp>
      <p:sp>
        <p:nvSpPr>
          <p:cNvPr id="5" name="TextBox 4"/>
          <p:cNvSpPr txBox="1"/>
          <p:nvPr/>
        </p:nvSpPr>
        <p:spPr>
          <a:xfrm>
            <a:off x="731520" y="1737360"/>
            <a:ext cx="5212080" cy="3474720"/>
          </a:xfrm>
          <a:prstGeom prst="rect">
            <a:avLst/>
          </a:prstGeom>
          <a:noFill/>
        </p:spPr>
        <p:txBody>
          <a:bodyPr wrap="square">
            <a:spAutoFit/>
          </a:bodyPr>
          <a:lstStyle/>
          <a:p>
            <a:pPr>
              <a:defRPr sz="1350" b="0">
                <a:solidFill>
                  <a:srgbClr val="232D37"/>
                </a:solidFill>
                <a:latin typeface="Aptos"/>
              </a:defRPr>
            </a:pPr>
            <a:r>
              <a:t>The proposed strategy combines customer data, business analytics, and machine learning to address high-value use cases.</a:t>
            </a:r>
            <a:br/>
            <a:br/>
            <a:r>
              <a:t>Rather than implementing AI as a standalone technology initiative, solutions should be connected to measurable business needs such as improving discovery, planning demand, reducing repetitive work, and supporting better decisions.</a:t>
            </a:r>
          </a:p>
        </p:txBody>
      </p:sp>
      <p:sp>
        <p:nvSpPr>
          <p:cNvPr id="6" name="Rounded Rectangle 5"/>
          <p:cNvSpPr/>
          <p:nvPr/>
        </p:nvSpPr>
        <p:spPr>
          <a:xfrm>
            <a:off x="6629400" y="1737360"/>
            <a:ext cx="429768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903720" y="1847088"/>
            <a:ext cx="1508760" cy="274320"/>
          </a:xfrm>
          <a:prstGeom prst="rect">
            <a:avLst/>
          </a:prstGeom>
          <a:noFill/>
        </p:spPr>
        <p:txBody>
          <a:bodyPr wrap="square">
            <a:spAutoFit/>
          </a:bodyPr>
          <a:lstStyle/>
          <a:p>
            <a:pPr>
              <a:defRPr sz="1100" b="1">
                <a:solidFill>
                  <a:srgbClr val="162D44"/>
                </a:solidFill>
                <a:latin typeface="Aptos"/>
              </a:defRPr>
            </a:pPr>
            <a:r>
              <a:t>Business Data</a:t>
            </a:r>
          </a:p>
        </p:txBody>
      </p:sp>
      <p:sp>
        <p:nvSpPr>
          <p:cNvPr id="8" name="TextBox 7"/>
          <p:cNvSpPr txBox="1"/>
          <p:nvPr/>
        </p:nvSpPr>
        <p:spPr>
          <a:xfrm>
            <a:off x="8366760" y="1847088"/>
            <a:ext cx="2331720" cy="411480"/>
          </a:xfrm>
          <a:prstGeom prst="rect">
            <a:avLst/>
          </a:prstGeom>
          <a:noFill/>
        </p:spPr>
        <p:txBody>
          <a:bodyPr wrap="square">
            <a:spAutoFit/>
          </a:bodyPr>
          <a:lstStyle/>
          <a:p>
            <a:pPr>
              <a:defRPr sz="950" b="0">
                <a:solidFill>
                  <a:srgbClr val="69737D"/>
                </a:solidFill>
                <a:latin typeface="Aptos"/>
              </a:defRPr>
            </a:pPr>
            <a:r>
              <a:t>Customer, product and transaction information</a:t>
            </a:r>
          </a:p>
        </p:txBody>
      </p:sp>
      <p:sp>
        <p:nvSpPr>
          <p:cNvPr id="9" name="Rounded Rectangle 8"/>
          <p:cNvSpPr/>
          <p:nvPr/>
        </p:nvSpPr>
        <p:spPr>
          <a:xfrm>
            <a:off x="6629400" y="2743200"/>
            <a:ext cx="429768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03720" y="2852928"/>
            <a:ext cx="1508760" cy="274320"/>
          </a:xfrm>
          <a:prstGeom prst="rect">
            <a:avLst/>
          </a:prstGeom>
          <a:noFill/>
        </p:spPr>
        <p:txBody>
          <a:bodyPr wrap="square">
            <a:spAutoFit/>
          </a:bodyPr>
          <a:lstStyle/>
          <a:p>
            <a:pPr>
              <a:defRPr sz="1100" b="1">
                <a:solidFill>
                  <a:srgbClr val="162D44"/>
                </a:solidFill>
                <a:latin typeface="Aptos"/>
              </a:defRPr>
            </a:pPr>
            <a:r>
              <a:t>Analytics Layer</a:t>
            </a:r>
          </a:p>
        </p:txBody>
      </p:sp>
      <p:sp>
        <p:nvSpPr>
          <p:cNvPr id="11" name="TextBox 10"/>
          <p:cNvSpPr txBox="1"/>
          <p:nvPr/>
        </p:nvSpPr>
        <p:spPr>
          <a:xfrm>
            <a:off x="8366760" y="2852928"/>
            <a:ext cx="2331720" cy="411480"/>
          </a:xfrm>
          <a:prstGeom prst="rect">
            <a:avLst/>
          </a:prstGeom>
          <a:noFill/>
        </p:spPr>
        <p:txBody>
          <a:bodyPr wrap="square">
            <a:spAutoFit/>
          </a:bodyPr>
          <a:lstStyle/>
          <a:p>
            <a:pPr>
              <a:defRPr sz="950" b="0">
                <a:solidFill>
                  <a:srgbClr val="69737D"/>
                </a:solidFill>
                <a:latin typeface="Aptos"/>
              </a:defRPr>
            </a:pPr>
            <a:r>
              <a:t>Prepare, analyze and understand patterns</a:t>
            </a:r>
          </a:p>
        </p:txBody>
      </p:sp>
      <p:sp>
        <p:nvSpPr>
          <p:cNvPr id="12" name="Rounded Rectangle 11"/>
          <p:cNvSpPr/>
          <p:nvPr/>
        </p:nvSpPr>
        <p:spPr>
          <a:xfrm>
            <a:off x="6629400" y="3749039"/>
            <a:ext cx="429768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03720" y="3858768"/>
            <a:ext cx="1508760" cy="274320"/>
          </a:xfrm>
          <a:prstGeom prst="rect">
            <a:avLst/>
          </a:prstGeom>
          <a:noFill/>
        </p:spPr>
        <p:txBody>
          <a:bodyPr wrap="square">
            <a:spAutoFit/>
          </a:bodyPr>
          <a:lstStyle/>
          <a:p>
            <a:pPr>
              <a:defRPr sz="1100" b="1">
                <a:solidFill>
                  <a:srgbClr val="162D44"/>
                </a:solidFill>
                <a:latin typeface="Aptos"/>
              </a:defRPr>
            </a:pPr>
            <a:r>
              <a:t>AI / ML Models</a:t>
            </a:r>
          </a:p>
        </p:txBody>
      </p:sp>
      <p:sp>
        <p:nvSpPr>
          <p:cNvPr id="14" name="TextBox 13"/>
          <p:cNvSpPr txBox="1"/>
          <p:nvPr/>
        </p:nvSpPr>
        <p:spPr>
          <a:xfrm>
            <a:off x="8366760" y="3858768"/>
            <a:ext cx="2331720" cy="411480"/>
          </a:xfrm>
          <a:prstGeom prst="rect">
            <a:avLst/>
          </a:prstGeom>
          <a:noFill/>
        </p:spPr>
        <p:txBody>
          <a:bodyPr wrap="square">
            <a:spAutoFit/>
          </a:bodyPr>
          <a:lstStyle/>
          <a:p>
            <a:pPr>
              <a:defRPr sz="950" b="0">
                <a:solidFill>
                  <a:srgbClr val="69737D"/>
                </a:solidFill>
                <a:latin typeface="Aptos"/>
              </a:defRPr>
            </a:pPr>
            <a:r>
              <a:t>Prediction, recommendations and automation</a:t>
            </a:r>
          </a:p>
        </p:txBody>
      </p:sp>
      <p:sp>
        <p:nvSpPr>
          <p:cNvPr id="15" name="Rounded Rectangle 14"/>
          <p:cNvSpPr/>
          <p:nvPr/>
        </p:nvSpPr>
        <p:spPr>
          <a:xfrm>
            <a:off x="6629400" y="4754880"/>
            <a:ext cx="429768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03720" y="4864608"/>
            <a:ext cx="1508760" cy="274320"/>
          </a:xfrm>
          <a:prstGeom prst="rect">
            <a:avLst/>
          </a:prstGeom>
          <a:noFill/>
        </p:spPr>
        <p:txBody>
          <a:bodyPr wrap="square">
            <a:spAutoFit/>
          </a:bodyPr>
          <a:lstStyle/>
          <a:p>
            <a:pPr>
              <a:defRPr sz="1100" b="1">
                <a:solidFill>
                  <a:srgbClr val="162D44"/>
                </a:solidFill>
                <a:latin typeface="Aptos"/>
              </a:defRPr>
            </a:pPr>
            <a:r>
              <a:t>Business Action</a:t>
            </a:r>
          </a:p>
        </p:txBody>
      </p:sp>
      <p:sp>
        <p:nvSpPr>
          <p:cNvPr id="17" name="TextBox 16"/>
          <p:cNvSpPr txBox="1"/>
          <p:nvPr/>
        </p:nvSpPr>
        <p:spPr>
          <a:xfrm>
            <a:off x="8366760" y="4864608"/>
            <a:ext cx="2331720" cy="411480"/>
          </a:xfrm>
          <a:prstGeom prst="rect">
            <a:avLst/>
          </a:prstGeom>
          <a:noFill/>
        </p:spPr>
        <p:txBody>
          <a:bodyPr wrap="square">
            <a:spAutoFit/>
          </a:bodyPr>
          <a:lstStyle/>
          <a:p>
            <a:pPr>
              <a:defRPr sz="950" b="0">
                <a:solidFill>
                  <a:srgbClr val="69737D"/>
                </a:solidFill>
                <a:latin typeface="Aptos"/>
              </a:defRPr>
            </a:pPr>
            <a:r>
              <a:t>Insights integrated into everyday workflows</a:t>
            </a:r>
          </a:p>
        </p:txBody>
      </p:sp>
      <p:sp>
        <p:nvSpPr>
          <p:cNvPr id="18" name="TextBox 17"/>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9" name="TextBox 18"/>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04  |  PRIORITY USE CASES</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Where AI can create practical business value</a:t>
            </a:r>
          </a:p>
        </p:txBody>
      </p:sp>
      <p:sp>
        <p:nvSpPr>
          <p:cNvPr id="5" name="Rounded Rectangle 4"/>
          <p:cNvSpPr/>
          <p:nvPr/>
        </p:nvSpPr>
        <p:spPr>
          <a:xfrm>
            <a:off x="731520" y="1783080"/>
            <a:ext cx="5257800" cy="141732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87552" y="1984248"/>
            <a:ext cx="4754880" cy="320040"/>
          </a:xfrm>
          <a:prstGeom prst="rect">
            <a:avLst/>
          </a:prstGeom>
          <a:noFill/>
        </p:spPr>
        <p:txBody>
          <a:bodyPr wrap="square">
            <a:spAutoFit/>
          </a:bodyPr>
          <a:lstStyle/>
          <a:p>
            <a:pPr>
              <a:defRPr sz="1300" b="1">
                <a:solidFill>
                  <a:srgbClr val="162D44"/>
                </a:solidFill>
                <a:latin typeface="Aptos"/>
              </a:defRPr>
            </a:pPr>
            <a:r>
              <a:t>Personalized Recommendations</a:t>
            </a:r>
          </a:p>
        </p:txBody>
      </p:sp>
      <p:sp>
        <p:nvSpPr>
          <p:cNvPr id="7" name="TextBox 6"/>
          <p:cNvSpPr txBox="1"/>
          <p:nvPr/>
        </p:nvSpPr>
        <p:spPr>
          <a:xfrm>
            <a:off x="987552" y="2404872"/>
            <a:ext cx="4754880" cy="594360"/>
          </a:xfrm>
          <a:prstGeom prst="rect">
            <a:avLst/>
          </a:prstGeom>
          <a:noFill/>
        </p:spPr>
        <p:txBody>
          <a:bodyPr wrap="square">
            <a:spAutoFit/>
          </a:bodyPr>
          <a:lstStyle/>
          <a:p>
            <a:pPr>
              <a:defRPr sz="1050" b="0">
                <a:solidFill>
                  <a:srgbClr val="69737D"/>
                </a:solidFill>
                <a:latin typeface="Aptos"/>
              </a:defRPr>
            </a:pPr>
            <a:r>
              <a:t>Analyze customer behavior and product interactions to surface more relevant products and improve the discovery experience.</a:t>
            </a:r>
          </a:p>
        </p:txBody>
      </p:sp>
      <p:sp>
        <p:nvSpPr>
          <p:cNvPr id="8" name="Rounded Rectangle 7"/>
          <p:cNvSpPr/>
          <p:nvPr/>
        </p:nvSpPr>
        <p:spPr>
          <a:xfrm>
            <a:off x="6217920" y="1783080"/>
            <a:ext cx="5257800" cy="141732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73952" y="1984248"/>
            <a:ext cx="4754880" cy="320040"/>
          </a:xfrm>
          <a:prstGeom prst="rect">
            <a:avLst/>
          </a:prstGeom>
          <a:noFill/>
        </p:spPr>
        <p:txBody>
          <a:bodyPr wrap="square">
            <a:spAutoFit/>
          </a:bodyPr>
          <a:lstStyle/>
          <a:p>
            <a:pPr>
              <a:defRPr sz="1300" b="1">
                <a:solidFill>
                  <a:srgbClr val="162D44"/>
                </a:solidFill>
                <a:latin typeface="Aptos"/>
              </a:defRPr>
            </a:pPr>
            <a:r>
              <a:t>Demand Forecasting</a:t>
            </a:r>
          </a:p>
        </p:txBody>
      </p:sp>
      <p:sp>
        <p:nvSpPr>
          <p:cNvPr id="10" name="TextBox 9"/>
          <p:cNvSpPr txBox="1"/>
          <p:nvPr/>
        </p:nvSpPr>
        <p:spPr>
          <a:xfrm>
            <a:off x="6473952" y="2404872"/>
            <a:ext cx="4754880" cy="594360"/>
          </a:xfrm>
          <a:prstGeom prst="rect">
            <a:avLst/>
          </a:prstGeom>
          <a:noFill/>
        </p:spPr>
        <p:txBody>
          <a:bodyPr wrap="square">
            <a:spAutoFit/>
          </a:bodyPr>
          <a:lstStyle/>
          <a:p>
            <a:pPr>
              <a:defRPr sz="1050" b="0">
                <a:solidFill>
                  <a:srgbClr val="69737D"/>
                </a:solidFill>
                <a:latin typeface="Aptos"/>
              </a:defRPr>
            </a:pPr>
            <a:r>
              <a:t>Use historical patterns and business data to estimate future demand and support inventory and operational planning.</a:t>
            </a:r>
          </a:p>
        </p:txBody>
      </p:sp>
      <p:sp>
        <p:nvSpPr>
          <p:cNvPr id="11" name="Rounded Rectangle 10"/>
          <p:cNvSpPr/>
          <p:nvPr/>
        </p:nvSpPr>
        <p:spPr>
          <a:xfrm>
            <a:off x="731520" y="3520440"/>
            <a:ext cx="5257800" cy="141732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87552" y="3721608"/>
            <a:ext cx="4754880" cy="320040"/>
          </a:xfrm>
          <a:prstGeom prst="rect">
            <a:avLst/>
          </a:prstGeom>
          <a:noFill/>
        </p:spPr>
        <p:txBody>
          <a:bodyPr wrap="square">
            <a:spAutoFit/>
          </a:bodyPr>
          <a:lstStyle/>
          <a:p>
            <a:pPr>
              <a:defRPr sz="1300" b="1">
                <a:solidFill>
                  <a:srgbClr val="162D44"/>
                </a:solidFill>
                <a:latin typeface="Aptos"/>
              </a:defRPr>
            </a:pPr>
            <a:r>
              <a:t>Customer Support Automation</a:t>
            </a:r>
          </a:p>
        </p:txBody>
      </p:sp>
      <p:sp>
        <p:nvSpPr>
          <p:cNvPr id="13" name="TextBox 12"/>
          <p:cNvSpPr txBox="1"/>
          <p:nvPr/>
        </p:nvSpPr>
        <p:spPr>
          <a:xfrm>
            <a:off x="987552" y="4142232"/>
            <a:ext cx="4754880" cy="594360"/>
          </a:xfrm>
          <a:prstGeom prst="rect">
            <a:avLst/>
          </a:prstGeom>
          <a:noFill/>
        </p:spPr>
        <p:txBody>
          <a:bodyPr wrap="square">
            <a:spAutoFit/>
          </a:bodyPr>
          <a:lstStyle/>
          <a:p>
            <a:pPr>
              <a:defRPr sz="1050" b="0">
                <a:solidFill>
                  <a:srgbClr val="69737D"/>
                </a:solidFill>
                <a:latin typeface="Aptos"/>
              </a:defRPr>
            </a:pPr>
            <a:r>
              <a:t>Use AI-powered assistants and knowledge systems to help customers find answers to common questions more quickly.</a:t>
            </a:r>
          </a:p>
        </p:txBody>
      </p:sp>
      <p:sp>
        <p:nvSpPr>
          <p:cNvPr id="14" name="Rounded Rectangle 13"/>
          <p:cNvSpPr/>
          <p:nvPr/>
        </p:nvSpPr>
        <p:spPr>
          <a:xfrm>
            <a:off x="6217920" y="3520440"/>
            <a:ext cx="5257800" cy="141732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73952" y="3721608"/>
            <a:ext cx="4754880" cy="320040"/>
          </a:xfrm>
          <a:prstGeom prst="rect">
            <a:avLst/>
          </a:prstGeom>
          <a:noFill/>
        </p:spPr>
        <p:txBody>
          <a:bodyPr wrap="square">
            <a:spAutoFit/>
          </a:bodyPr>
          <a:lstStyle/>
          <a:p>
            <a:pPr>
              <a:defRPr sz="1300" b="1">
                <a:solidFill>
                  <a:srgbClr val="162D44"/>
                </a:solidFill>
                <a:latin typeface="Aptos"/>
              </a:defRPr>
            </a:pPr>
            <a:r>
              <a:t>Business Intelligence</a:t>
            </a:r>
          </a:p>
        </p:txBody>
      </p:sp>
      <p:sp>
        <p:nvSpPr>
          <p:cNvPr id="16" name="TextBox 15"/>
          <p:cNvSpPr txBox="1"/>
          <p:nvPr/>
        </p:nvSpPr>
        <p:spPr>
          <a:xfrm>
            <a:off x="6473952" y="4142232"/>
            <a:ext cx="4754880" cy="594360"/>
          </a:xfrm>
          <a:prstGeom prst="rect">
            <a:avLst/>
          </a:prstGeom>
          <a:noFill/>
        </p:spPr>
        <p:txBody>
          <a:bodyPr wrap="square">
            <a:spAutoFit/>
          </a:bodyPr>
          <a:lstStyle/>
          <a:p>
            <a:pPr>
              <a:defRPr sz="1050" b="0">
                <a:solidFill>
                  <a:srgbClr val="69737D"/>
                </a:solidFill>
                <a:latin typeface="Aptos"/>
              </a:defRPr>
            </a:pPr>
            <a:r>
              <a:t>Transform sales and operational data into dashboards and insights that help teams identify trends and opportunities.</a:t>
            </a:r>
          </a:p>
        </p:txBody>
      </p:sp>
      <p:sp>
        <p:nvSpPr>
          <p:cNvPr id="17" name="TextBox 16"/>
          <p:cNvSpPr txBox="1"/>
          <p:nvPr/>
        </p:nvSpPr>
        <p:spPr>
          <a:xfrm>
            <a:off x="731520" y="5394960"/>
            <a:ext cx="10515600" cy="457200"/>
          </a:xfrm>
          <a:prstGeom prst="rect">
            <a:avLst/>
          </a:prstGeom>
          <a:noFill/>
        </p:spPr>
        <p:txBody>
          <a:bodyPr wrap="square">
            <a:spAutoFit/>
          </a:bodyPr>
          <a:lstStyle/>
          <a:p>
            <a:pPr>
              <a:defRPr sz="1300" b="1">
                <a:solidFill>
                  <a:srgbClr val="2A5F91"/>
                </a:solidFill>
                <a:latin typeface="Aptos"/>
              </a:defRPr>
            </a:pPr>
            <a:r>
              <a:t>Each use case can be introduced gradually, tested against business KPIs, and scaled when value is demonstrated.</a:t>
            </a:r>
          </a:p>
        </p:txBody>
      </p:sp>
      <p:sp>
        <p:nvSpPr>
          <p:cNvPr id="18" name="TextBox 17"/>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9" name="TextBox 18"/>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05  |  IMPLEMENTATION ROADMAP</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From business problem to scalable implementation</a:t>
            </a:r>
          </a:p>
        </p:txBody>
      </p:sp>
      <p:sp>
        <p:nvSpPr>
          <p:cNvPr id="5" name="Rounded Rectangle 4"/>
          <p:cNvSpPr/>
          <p:nvPr/>
        </p:nvSpPr>
        <p:spPr>
          <a:xfrm>
            <a:off x="731520" y="2011680"/>
            <a:ext cx="1920240" cy="288036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32688" y="2267712"/>
            <a:ext cx="1371600" cy="365760"/>
          </a:xfrm>
          <a:prstGeom prst="rect">
            <a:avLst/>
          </a:prstGeom>
          <a:noFill/>
        </p:spPr>
        <p:txBody>
          <a:bodyPr wrap="square">
            <a:spAutoFit/>
          </a:bodyPr>
          <a:lstStyle/>
          <a:p>
            <a:pPr>
              <a:defRPr sz="1100" b="1">
                <a:solidFill>
                  <a:srgbClr val="2A5F91"/>
                </a:solidFill>
                <a:latin typeface="Aptos"/>
              </a:defRPr>
            </a:pPr>
            <a:r>
              <a:t>01</a:t>
            </a:r>
          </a:p>
        </p:txBody>
      </p:sp>
      <p:sp>
        <p:nvSpPr>
          <p:cNvPr id="7" name="TextBox 6"/>
          <p:cNvSpPr txBox="1"/>
          <p:nvPr/>
        </p:nvSpPr>
        <p:spPr>
          <a:xfrm>
            <a:off x="932688" y="2788920"/>
            <a:ext cx="1508760" cy="365760"/>
          </a:xfrm>
          <a:prstGeom prst="rect">
            <a:avLst/>
          </a:prstGeom>
          <a:noFill/>
        </p:spPr>
        <p:txBody>
          <a:bodyPr wrap="square">
            <a:spAutoFit/>
          </a:bodyPr>
          <a:lstStyle/>
          <a:p>
            <a:pPr>
              <a:defRPr sz="1500" b="1">
                <a:solidFill>
                  <a:srgbClr val="162D44"/>
                </a:solidFill>
                <a:latin typeface="Aptos"/>
              </a:defRPr>
            </a:pPr>
            <a:r>
              <a:t>Discover</a:t>
            </a:r>
          </a:p>
        </p:txBody>
      </p:sp>
      <p:sp>
        <p:nvSpPr>
          <p:cNvPr id="8" name="TextBox 7"/>
          <p:cNvSpPr txBox="1"/>
          <p:nvPr/>
        </p:nvSpPr>
        <p:spPr>
          <a:xfrm>
            <a:off x="932688" y="3383280"/>
            <a:ext cx="1508760" cy="1143000"/>
          </a:xfrm>
          <a:prstGeom prst="rect">
            <a:avLst/>
          </a:prstGeom>
          <a:noFill/>
        </p:spPr>
        <p:txBody>
          <a:bodyPr wrap="square">
            <a:spAutoFit/>
          </a:bodyPr>
          <a:lstStyle/>
          <a:p>
            <a:pPr>
              <a:defRPr sz="1000" b="0">
                <a:solidFill>
                  <a:srgbClr val="69737D"/>
                </a:solidFill>
                <a:latin typeface="Aptos"/>
              </a:defRPr>
            </a:pPr>
            <a:r>
              <a:t>Identify business priorities, stakeholders, and measurable outcomes.</a:t>
            </a:r>
          </a:p>
        </p:txBody>
      </p:sp>
      <p:sp>
        <p:nvSpPr>
          <p:cNvPr id="9" name="Rounded Rectangle 8"/>
          <p:cNvSpPr/>
          <p:nvPr/>
        </p:nvSpPr>
        <p:spPr>
          <a:xfrm>
            <a:off x="2999232" y="2011680"/>
            <a:ext cx="1920240" cy="288036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00400" y="2267712"/>
            <a:ext cx="1371600" cy="365760"/>
          </a:xfrm>
          <a:prstGeom prst="rect">
            <a:avLst/>
          </a:prstGeom>
          <a:noFill/>
        </p:spPr>
        <p:txBody>
          <a:bodyPr wrap="square">
            <a:spAutoFit/>
          </a:bodyPr>
          <a:lstStyle/>
          <a:p>
            <a:pPr>
              <a:defRPr sz="1100" b="1">
                <a:solidFill>
                  <a:srgbClr val="2A5F91"/>
                </a:solidFill>
                <a:latin typeface="Aptos"/>
              </a:defRPr>
            </a:pPr>
            <a:r>
              <a:t>02</a:t>
            </a:r>
          </a:p>
        </p:txBody>
      </p:sp>
      <p:sp>
        <p:nvSpPr>
          <p:cNvPr id="11" name="TextBox 10"/>
          <p:cNvSpPr txBox="1"/>
          <p:nvPr/>
        </p:nvSpPr>
        <p:spPr>
          <a:xfrm>
            <a:off x="3200400" y="2788920"/>
            <a:ext cx="1508760" cy="365760"/>
          </a:xfrm>
          <a:prstGeom prst="rect">
            <a:avLst/>
          </a:prstGeom>
          <a:noFill/>
        </p:spPr>
        <p:txBody>
          <a:bodyPr wrap="square">
            <a:spAutoFit/>
          </a:bodyPr>
          <a:lstStyle/>
          <a:p>
            <a:pPr>
              <a:defRPr sz="1500" b="1">
                <a:solidFill>
                  <a:srgbClr val="162D44"/>
                </a:solidFill>
                <a:latin typeface="Aptos"/>
              </a:defRPr>
            </a:pPr>
            <a:r>
              <a:t>Prepare</a:t>
            </a:r>
          </a:p>
        </p:txBody>
      </p:sp>
      <p:sp>
        <p:nvSpPr>
          <p:cNvPr id="12" name="TextBox 11"/>
          <p:cNvSpPr txBox="1"/>
          <p:nvPr/>
        </p:nvSpPr>
        <p:spPr>
          <a:xfrm>
            <a:off x="3200400" y="3383280"/>
            <a:ext cx="1508760" cy="1143000"/>
          </a:xfrm>
          <a:prstGeom prst="rect">
            <a:avLst/>
          </a:prstGeom>
          <a:noFill/>
        </p:spPr>
        <p:txBody>
          <a:bodyPr wrap="square">
            <a:spAutoFit/>
          </a:bodyPr>
          <a:lstStyle/>
          <a:p>
            <a:pPr>
              <a:defRPr sz="1000" b="0">
                <a:solidFill>
                  <a:srgbClr val="69737D"/>
                </a:solidFill>
                <a:latin typeface="Aptos"/>
              </a:defRPr>
            </a:pPr>
            <a:r>
              <a:t>Assess available data, quality, access, and technical requirements.</a:t>
            </a:r>
          </a:p>
        </p:txBody>
      </p:sp>
      <p:sp>
        <p:nvSpPr>
          <p:cNvPr id="13" name="Rounded Rectangle 12"/>
          <p:cNvSpPr/>
          <p:nvPr/>
        </p:nvSpPr>
        <p:spPr>
          <a:xfrm>
            <a:off x="5266944" y="2011680"/>
            <a:ext cx="1920240" cy="288036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468112" y="2267712"/>
            <a:ext cx="1371600" cy="365760"/>
          </a:xfrm>
          <a:prstGeom prst="rect">
            <a:avLst/>
          </a:prstGeom>
          <a:noFill/>
        </p:spPr>
        <p:txBody>
          <a:bodyPr wrap="square">
            <a:spAutoFit/>
          </a:bodyPr>
          <a:lstStyle/>
          <a:p>
            <a:pPr>
              <a:defRPr sz="1100" b="1">
                <a:solidFill>
                  <a:srgbClr val="2A5F91"/>
                </a:solidFill>
                <a:latin typeface="Aptos"/>
              </a:defRPr>
            </a:pPr>
            <a:r>
              <a:t>03</a:t>
            </a:r>
          </a:p>
        </p:txBody>
      </p:sp>
      <p:sp>
        <p:nvSpPr>
          <p:cNvPr id="15" name="TextBox 14"/>
          <p:cNvSpPr txBox="1"/>
          <p:nvPr/>
        </p:nvSpPr>
        <p:spPr>
          <a:xfrm>
            <a:off x="5468112" y="2788920"/>
            <a:ext cx="1508760" cy="365760"/>
          </a:xfrm>
          <a:prstGeom prst="rect">
            <a:avLst/>
          </a:prstGeom>
          <a:noFill/>
        </p:spPr>
        <p:txBody>
          <a:bodyPr wrap="square">
            <a:spAutoFit/>
          </a:bodyPr>
          <a:lstStyle/>
          <a:p>
            <a:pPr>
              <a:defRPr sz="1500" b="1">
                <a:solidFill>
                  <a:srgbClr val="162D44"/>
                </a:solidFill>
                <a:latin typeface="Aptos"/>
              </a:defRPr>
            </a:pPr>
            <a:r>
              <a:t>Prototype</a:t>
            </a:r>
          </a:p>
        </p:txBody>
      </p:sp>
      <p:sp>
        <p:nvSpPr>
          <p:cNvPr id="16" name="TextBox 15"/>
          <p:cNvSpPr txBox="1"/>
          <p:nvPr/>
        </p:nvSpPr>
        <p:spPr>
          <a:xfrm>
            <a:off x="5468112" y="3383280"/>
            <a:ext cx="1508760" cy="1143000"/>
          </a:xfrm>
          <a:prstGeom prst="rect">
            <a:avLst/>
          </a:prstGeom>
          <a:noFill/>
        </p:spPr>
        <p:txBody>
          <a:bodyPr wrap="square">
            <a:spAutoFit/>
          </a:bodyPr>
          <a:lstStyle/>
          <a:p>
            <a:pPr>
              <a:defRPr sz="1000" b="0">
                <a:solidFill>
                  <a:srgbClr val="69737D"/>
                </a:solidFill>
                <a:latin typeface="Aptos"/>
              </a:defRPr>
            </a:pPr>
            <a:r>
              <a:t>Build and test an initial AI or analytics solution for a focused use case.</a:t>
            </a:r>
          </a:p>
        </p:txBody>
      </p:sp>
      <p:sp>
        <p:nvSpPr>
          <p:cNvPr id="17" name="Rounded Rectangle 16"/>
          <p:cNvSpPr/>
          <p:nvPr/>
        </p:nvSpPr>
        <p:spPr>
          <a:xfrm>
            <a:off x="7534656" y="2011680"/>
            <a:ext cx="1920240" cy="288036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735824" y="2267712"/>
            <a:ext cx="1371600" cy="365760"/>
          </a:xfrm>
          <a:prstGeom prst="rect">
            <a:avLst/>
          </a:prstGeom>
          <a:noFill/>
        </p:spPr>
        <p:txBody>
          <a:bodyPr wrap="square">
            <a:spAutoFit/>
          </a:bodyPr>
          <a:lstStyle/>
          <a:p>
            <a:pPr>
              <a:defRPr sz="1100" b="1">
                <a:solidFill>
                  <a:srgbClr val="2A5F91"/>
                </a:solidFill>
                <a:latin typeface="Aptos"/>
              </a:defRPr>
            </a:pPr>
            <a:r>
              <a:t>04</a:t>
            </a:r>
          </a:p>
        </p:txBody>
      </p:sp>
      <p:sp>
        <p:nvSpPr>
          <p:cNvPr id="19" name="TextBox 18"/>
          <p:cNvSpPr txBox="1"/>
          <p:nvPr/>
        </p:nvSpPr>
        <p:spPr>
          <a:xfrm>
            <a:off x="7735824" y="2788920"/>
            <a:ext cx="1508760" cy="365760"/>
          </a:xfrm>
          <a:prstGeom prst="rect">
            <a:avLst/>
          </a:prstGeom>
          <a:noFill/>
        </p:spPr>
        <p:txBody>
          <a:bodyPr wrap="square">
            <a:spAutoFit/>
          </a:bodyPr>
          <a:lstStyle/>
          <a:p>
            <a:pPr>
              <a:defRPr sz="1500" b="1">
                <a:solidFill>
                  <a:srgbClr val="162D44"/>
                </a:solidFill>
                <a:latin typeface="Aptos"/>
              </a:defRPr>
            </a:pPr>
            <a:r>
              <a:t>Integrate</a:t>
            </a:r>
          </a:p>
        </p:txBody>
      </p:sp>
      <p:sp>
        <p:nvSpPr>
          <p:cNvPr id="20" name="TextBox 19"/>
          <p:cNvSpPr txBox="1"/>
          <p:nvPr/>
        </p:nvSpPr>
        <p:spPr>
          <a:xfrm>
            <a:off x="7735824" y="3383280"/>
            <a:ext cx="1508760" cy="1143000"/>
          </a:xfrm>
          <a:prstGeom prst="rect">
            <a:avLst/>
          </a:prstGeom>
          <a:noFill/>
        </p:spPr>
        <p:txBody>
          <a:bodyPr wrap="square">
            <a:spAutoFit/>
          </a:bodyPr>
          <a:lstStyle/>
          <a:p>
            <a:pPr>
              <a:defRPr sz="1000" b="0">
                <a:solidFill>
                  <a:srgbClr val="69737D"/>
                </a:solidFill>
                <a:latin typeface="Aptos"/>
              </a:defRPr>
            </a:pPr>
            <a:r>
              <a:t>Connect successful solutions with existing workflows and systems.</a:t>
            </a:r>
          </a:p>
        </p:txBody>
      </p:sp>
      <p:sp>
        <p:nvSpPr>
          <p:cNvPr id="21" name="Rounded Rectangle 20"/>
          <p:cNvSpPr/>
          <p:nvPr/>
        </p:nvSpPr>
        <p:spPr>
          <a:xfrm>
            <a:off x="9802368" y="2011680"/>
            <a:ext cx="1920240" cy="288036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003536" y="2267712"/>
            <a:ext cx="1371600" cy="365760"/>
          </a:xfrm>
          <a:prstGeom prst="rect">
            <a:avLst/>
          </a:prstGeom>
          <a:noFill/>
        </p:spPr>
        <p:txBody>
          <a:bodyPr wrap="square">
            <a:spAutoFit/>
          </a:bodyPr>
          <a:lstStyle/>
          <a:p>
            <a:pPr>
              <a:defRPr sz="1100" b="1">
                <a:solidFill>
                  <a:srgbClr val="2A5F91"/>
                </a:solidFill>
                <a:latin typeface="Aptos"/>
              </a:defRPr>
            </a:pPr>
            <a:r>
              <a:t>05</a:t>
            </a:r>
          </a:p>
        </p:txBody>
      </p:sp>
      <p:sp>
        <p:nvSpPr>
          <p:cNvPr id="23" name="TextBox 22"/>
          <p:cNvSpPr txBox="1"/>
          <p:nvPr/>
        </p:nvSpPr>
        <p:spPr>
          <a:xfrm>
            <a:off x="10003536" y="2788920"/>
            <a:ext cx="1508760" cy="365760"/>
          </a:xfrm>
          <a:prstGeom prst="rect">
            <a:avLst/>
          </a:prstGeom>
          <a:noFill/>
        </p:spPr>
        <p:txBody>
          <a:bodyPr wrap="square">
            <a:spAutoFit/>
          </a:bodyPr>
          <a:lstStyle/>
          <a:p>
            <a:pPr>
              <a:defRPr sz="1500" b="1">
                <a:solidFill>
                  <a:srgbClr val="162D44"/>
                </a:solidFill>
                <a:latin typeface="Aptos"/>
              </a:defRPr>
            </a:pPr>
            <a:r>
              <a:t>Monitor</a:t>
            </a:r>
          </a:p>
        </p:txBody>
      </p:sp>
      <p:sp>
        <p:nvSpPr>
          <p:cNvPr id="24" name="TextBox 23"/>
          <p:cNvSpPr txBox="1"/>
          <p:nvPr/>
        </p:nvSpPr>
        <p:spPr>
          <a:xfrm>
            <a:off x="10003536" y="3383280"/>
            <a:ext cx="1508760" cy="1143000"/>
          </a:xfrm>
          <a:prstGeom prst="rect">
            <a:avLst/>
          </a:prstGeom>
          <a:noFill/>
        </p:spPr>
        <p:txBody>
          <a:bodyPr wrap="square">
            <a:spAutoFit/>
          </a:bodyPr>
          <a:lstStyle/>
          <a:p>
            <a:pPr>
              <a:defRPr sz="1000" b="0">
                <a:solidFill>
                  <a:srgbClr val="69737D"/>
                </a:solidFill>
                <a:latin typeface="Aptos"/>
              </a:defRPr>
            </a:pPr>
            <a:r>
              <a:t>Track performance, gather feedback, and continuously improve.</a:t>
            </a:r>
          </a:p>
        </p:txBody>
      </p:sp>
      <p:sp>
        <p:nvSpPr>
          <p:cNvPr id="25" name="TextBox 24"/>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26" name="TextBox 25"/>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06  |  RESPONSIBLE IMPLEMENTATION</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Technology adoption must be supported by governance and measurement</a:t>
            </a:r>
          </a:p>
        </p:txBody>
      </p:sp>
      <p:sp>
        <p:nvSpPr>
          <p:cNvPr id="5" name="TextBox 4"/>
          <p:cNvSpPr txBox="1"/>
          <p:nvPr/>
        </p:nvSpPr>
        <p:spPr>
          <a:xfrm>
            <a:off x="731520" y="1783080"/>
            <a:ext cx="5212080" cy="3566160"/>
          </a:xfrm>
          <a:prstGeom prst="rect">
            <a:avLst/>
          </a:prstGeom>
          <a:noFill/>
        </p:spPr>
        <p:txBody>
          <a:bodyPr wrap="square">
            <a:spAutoFit/>
          </a:bodyPr>
          <a:lstStyle/>
          <a:p>
            <a:pPr>
              <a:defRPr sz="1320" b="0">
                <a:solidFill>
                  <a:srgbClr val="232D37"/>
                </a:solidFill>
                <a:latin typeface="Aptos"/>
              </a:defRPr>
            </a:pPr>
            <a:r>
              <a:t>AI initiatives should be evaluated beyond technical performance. UrbanCart's implementation approach should consider data privacy, security, model quality, and the impact of automated recommendations or decisions.</a:t>
            </a:r>
            <a:br/>
            <a:br/>
            <a:r>
              <a:t>Human review remains important for business processes where errors could have a significant operational or customer impact. Performance should also be monitored after deployment as business conditions and data patterns change.</a:t>
            </a:r>
          </a:p>
        </p:txBody>
      </p:sp>
      <p:sp>
        <p:nvSpPr>
          <p:cNvPr id="6" name="Rounded Rectangle 5"/>
          <p:cNvSpPr/>
          <p:nvPr/>
        </p:nvSpPr>
        <p:spPr>
          <a:xfrm>
            <a:off x="6629400" y="1737360"/>
            <a:ext cx="438912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85432" y="1938528"/>
            <a:ext cx="3886200" cy="320040"/>
          </a:xfrm>
          <a:prstGeom prst="rect">
            <a:avLst/>
          </a:prstGeom>
          <a:noFill/>
        </p:spPr>
        <p:txBody>
          <a:bodyPr wrap="square">
            <a:spAutoFit/>
          </a:bodyPr>
          <a:lstStyle/>
          <a:p>
            <a:pPr>
              <a:defRPr sz="1300" b="1">
                <a:solidFill>
                  <a:srgbClr val="162D44"/>
                </a:solidFill>
                <a:latin typeface="Aptos"/>
              </a:defRPr>
            </a:pPr>
            <a:r>
              <a:t>Data Privacy</a:t>
            </a:r>
          </a:p>
        </p:txBody>
      </p:sp>
      <p:sp>
        <p:nvSpPr>
          <p:cNvPr id="8" name="TextBox 7"/>
          <p:cNvSpPr txBox="1"/>
          <p:nvPr/>
        </p:nvSpPr>
        <p:spPr>
          <a:xfrm>
            <a:off x="6885432" y="2359152"/>
            <a:ext cx="3886200" cy="-45720"/>
          </a:xfrm>
          <a:prstGeom prst="rect">
            <a:avLst/>
          </a:prstGeom>
          <a:noFill/>
        </p:spPr>
        <p:txBody>
          <a:bodyPr wrap="square">
            <a:spAutoFit/>
          </a:bodyPr>
          <a:lstStyle/>
          <a:p>
            <a:pPr>
              <a:defRPr sz="1050" b="0">
                <a:solidFill>
                  <a:srgbClr val="69737D"/>
                </a:solidFill>
                <a:latin typeface="Aptos"/>
              </a:defRPr>
            </a:pPr>
            <a:r>
              <a:t>Use and manage business data responsibly.</a:t>
            </a:r>
          </a:p>
        </p:txBody>
      </p:sp>
      <p:sp>
        <p:nvSpPr>
          <p:cNvPr id="9" name="Rounded Rectangle 8"/>
          <p:cNvSpPr/>
          <p:nvPr/>
        </p:nvSpPr>
        <p:spPr>
          <a:xfrm>
            <a:off x="6629400" y="2697480"/>
            <a:ext cx="438912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85432" y="2898648"/>
            <a:ext cx="3886200" cy="320040"/>
          </a:xfrm>
          <a:prstGeom prst="rect">
            <a:avLst/>
          </a:prstGeom>
          <a:noFill/>
        </p:spPr>
        <p:txBody>
          <a:bodyPr wrap="square">
            <a:spAutoFit/>
          </a:bodyPr>
          <a:lstStyle/>
          <a:p>
            <a:pPr>
              <a:defRPr sz="1300" b="1">
                <a:solidFill>
                  <a:srgbClr val="162D44"/>
                </a:solidFill>
                <a:latin typeface="Aptos"/>
              </a:defRPr>
            </a:pPr>
            <a:r>
              <a:t>Model Quality</a:t>
            </a:r>
          </a:p>
        </p:txBody>
      </p:sp>
      <p:sp>
        <p:nvSpPr>
          <p:cNvPr id="11" name="TextBox 10"/>
          <p:cNvSpPr txBox="1"/>
          <p:nvPr/>
        </p:nvSpPr>
        <p:spPr>
          <a:xfrm>
            <a:off x="6885432" y="3319272"/>
            <a:ext cx="3886200" cy="-45720"/>
          </a:xfrm>
          <a:prstGeom prst="rect">
            <a:avLst/>
          </a:prstGeom>
          <a:noFill/>
        </p:spPr>
        <p:txBody>
          <a:bodyPr wrap="square">
            <a:spAutoFit/>
          </a:bodyPr>
          <a:lstStyle/>
          <a:p>
            <a:pPr>
              <a:defRPr sz="1050" b="0">
                <a:solidFill>
                  <a:srgbClr val="69737D"/>
                </a:solidFill>
                <a:latin typeface="Aptos"/>
              </a:defRPr>
            </a:pPr>
            <a:r>
              <a:t>Validate outputs and monitor accuracy over time.</a:t>
            </a:r>
          </a:p>
        </p:txBody>
      </p:sp>
      <p:sp>
        <p:nvSpPr>
          <p:cNvPr id="12" name="Rounded Rectangle 11"/>
          <p:cNvSpPr/>
          <p:nvPr/>
        </p:nvSpPr>
        <p:spPr>
          <a:xfrm>
            <a:off x="6629400" y="3657600"/>
            <a:ext cx="438912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85432" y="3858768"/>
            <a:ext cx="3886200" cy="320040"/>
          </a:xfrm>
          <a:prstGeom prst="rect">
            <a:avLst/>
          </a:prstGeom>
          <a:noFill/>
        </p:spPr>
        <p:txBody>
          <a:bodyPr wrap="square">
            <a:spAutoFit/>
          </a:bodyPr>
          <a:lstStyle/>
          <a:p>
            <a:pPr>
              <a:defRPr sz="1300" b="1">
                <a:solidFill>
                  <a:srgbClr val="162D44"/>
                </a:solidFill>
                <a:latin typeface="Aptos"/>
              </a:defRPr>
            </a:pPr>
            <a:r>
              <a:t>Security</a:t>
            </a:r>
          </a:p>
        </p:txBody>
      </p:sp>
      <p:sp>
        <p:nvSpPr>
          <p:cNvPr id="14" name="TextBox 13"/>
          <p:cNvSpPr txBox="1"/>
          <p:nvPr/>
        </p:nvSpPr>
        <p:spPr>
          <a:xfrm>
            <a:off x="6885432" y="4279392"/>
            <a:ext cx="3886200" cy="-45720"/>
          </a:xfrm>
          <a:prstGeom prst="rect">
            <a:avLst/>
          </a:prstGeom>
          <a:noFill/>
        </p:spPr>
        <p:txBody>
          <a:bodyPr wrap="square">
            <a:spAutoFit/>
          </a:bodyPr>
          <a:lstStyle/>
          <a:p>
            <a:pPr>
              <a:defRPr sz="1050" b="0">
                <a:solidFill>
                  <a:srgbClr val="69737D"/>
                </a:solidFill>
                <a:latin typeface="Aptos"/>
              </a:defRPr>
            </a:pPr>
            <a:r>
              <a:t>Protect systems and sensitive information.</a:t>
            </a:r>
          </a:p>
        </p:txBody>
      </p:sp>
      <p:sp>
        <p:nvSpPr>
          <p:cNvPr id="15" name="Rounded Rectangle 14"/>
          <p:cNvSpPr/>
          <p:nvPr/>
        </p:nvSpPr>
        <p:spPr>
          <a:xfrm>
            <a:off x="6629400" y="4617720"/>
            <a:ext cx="4389120" cy="777240"/>
          </a:xfrm>
          <a:prstGeom prst="roundRect">
            <a:avLst/>
          </a:prstGeom>
          <a:solidFill>
            <a:srgbClr val="F4F7FA"/>
          </a:solidFill>
          <a:ln>
            <a:solidFill>
              <a:srgbClr val="DCE2E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85432" y="4818888"/>
            <a:ext cx="3886200" cy="320040"/>
          </a:xfrm>
          <a:prstGeom prst="rect">
            <a:avLst/>
          </a:prstGeom>
          <a:noFill/>
        </p:spPr>
        <p:txBody>
          <a:bodyPr wrap="square">
            <a:spAutoFit/>
          </a:bodyPr>
          <a:lstStyle/>
          <a:p>
            <a:pPr>
              <a:defRPr sz="1300" b="1">
                <a:solidFill>
                  <a:srgbClr val="162D44"/>
                </a:solidFill>
                <a:latin typeface="Aptos"/>
              </a:defRPr>
            </a:pPr>
            <a:r>
              <a:t>Human Oversight</a:t>
            </a:r>
          </a:p>
        </p:txBody>
      </p:sp>
      <p:sp>
        <p:nvSpPr>
          <p:cNvPr id="17" name="TextBox 16"/>
          <p:cNvSpPr txBox="1"/>
          <p:nvPr/>
        </p:nvSpPr>
        <p:spPr>
          <a:xfrm>
            <a:off x="6885432" y="5239512"/>
            <a:ext cx="3886200" cy="-45720"/>
          </a:xfrm>
          <a:prstGeom prst="rect">
            <a:avLst/>
          </a:prstGeom>
          <a:noFill/>
        </p:spPr>
        <p:txBody>
          <a:bodyPr wrap="square">
            <a:spAutoFit/>
          </a:bodyPr>
          <a:lstStyle/>
          <a:p>
            <a:pPr>
              <a:defRPr sz="1050" b="0">
                <a:solidFill>
                  <a:srgbClr val="69737D"/>
                </a:solidFill>
                <a:latin typeface="Aptos"/>
              </a:defRPr>
            </a:pPr>
            <a:r>
              <a:t>Keep appropriate review for important decisions.</a:t>
            </a:r>
          </a:p>
        </p:txBody>
      </p:sp>
      <p:sp>
        <p:nvSpPr>
          <p:cNvPr id="18" name="TextBox 17"/>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9" name="TextBox 18"/>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109728"/>
          </a:xfrm>
          <a:prstGeom prst="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02920"/>
            <a:ext cx="9144000" cy="320040"/>
          </a:xfrm>
          <a:prstGeom prst="rect">
            <a:avLst/>
          </a:prstGeom>
          <a:noFill/>
        </p:spPr>
        <p:txBody>
          <a:bodyPr wrap="square">
            <a:spAutoFit/>
          </a:bodyPr>
          <a:lstStyle/>
          <a:p>
            <a:pPr>
              <a:defRPr sz="1000" b="1">
                <a:solidFill>
                  <a:srgbClr val="2A5F91"/>
                </a:solidFill>
                <a:latin typeface="Aptos"/>
              </a:defRPr>
            </a:pPr>
            <a:r>
              <a:t>07  |  NEXT STEPS</a:t>
            </a:r>
          </a:p>
        </p:txBody>
      </p:sp>
      <p:sp>
        <p:nvSpPr>
          <p:cNvPr id="4" name="TextBox 3"/>
          <p:cNvSpPr txBox="1"/>
          <p:nvPr/>
        </p:nvSpPr>
        <p:spPr>
          <a:xfrm>
            <a:off x="731520" y="960120"/>
            <a:ext cx="10058400" cy="548640"/>
          </a:xfrm>
          <a:prstGeom prst="rect">
            <a:avLst/>
          </a:prstGeom>
          <a:noFill/>
        </p:spPr>
        <p:txBody>
          <a:bodyPr wrap="square">
            <a:spAutoFit/>
          </a:bodyPr>
          <a:lstStyle/>
          <a:p>
            <a:pPr>
              <a:defRPr sz="2700" b="1">
                <a:solidFill>
                  <a:srgbClr val="162D44"/>
                </a:solidFill>
                <a:latin typeface="Aptos"/>
              </a:defRPr>
            </a:pPr>
            <a:r>
              <a:t>Building toward a more intelligent commerce platform</a:t>
            </a:r>
          </a:p>
        </p:txBody>
      </p:sp>
      <p:sp>
        <p:nvSpPr>
          <p:cNvPr id="5" name="TextBox 4"/>
          <p:cNvSpPr txBox="1"/>
          <p:nvPr/>
        </p:nvSpPr>
        <p:spPr>
          <a:xfrm>
            <a:off x="731520" y="1783080"/>
            <a:ext cx="6583680" cy="3108960"/>
          </a:xfrm>
          <a:prstGeom prst="rect">
            <a:avLst/>
          </a:prstGeom>
          <a:noFill/>
        </p:spPr>
        <p:txBody>
          <a:bodyPr wrap="square">
            <a:spAutoFit/>
          </a:bodyPr>
          <a:lstStyle/>
          <a:p>
            <a:pPr>
              <a:defRPr sz="1400" b="0">
                <a:solidFill>
                  <a:srgbClr val="232D37"/>
                </a:solidFill>
                <a:latin typeface="Aptos"/>
              </a:defRPr>
            </a:pPr>
            <a:r>
              <a:t>UrbanCart can begin with focused, high-value use cases and expand capabilities as data maturity and business confidence increase.</a:t>
            </a:r>
            <a:br/>
            <a:br/>
            <a:r>
              <a:t>The long-term opportunity is to create a connected ecosystem where analytics and AI support personalized customer experiences, intelligent search, forecasting, automated support, and faster decision-making across the organization.</a:t>
            </a:r>
          </a:p>
        </p:txBody>
      </p:sp>
      <p:sp>
        <p:nvSpPr>
          <p:cNvPr id="6" name="Rounded Rectangle 5"/>
          <p:cNvSpPr/>
          <p:nvPr/>
        </p:nvSpPr>
        <p:spPr>
          <a:xfrm>
            <a:off x="7818120" y="1874519"/>
            <a:ext cx="3474720" cy="2651760"/>
          </a:xfrm>
          <a:prstGeom prst="roundRect">
            <a:avLst/>
          </a:prstGeom>
          <a:solidFill>
            <a:srgbClr val="162D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8138160" y="2240280"/>
            <a:ext cx="2788920" cy="320040"/>
          </a:xfrm>
          <a:prstGeom prst="rect">
            <a:avLst/>
          </a:prstGeom>
          <a:noFill/>
        </p:spPr>
        <p:txBody>
          <a:bodyPr wrap="square">
            <a:spAutoFit/>
          </a:bodyPr>
          <a:lstStyle/>
          <a:p>
            <a:pPr>
              <a:defRPr sz="1200" b="1">
                <a:solidFill>
                  <a:srgbClr val="FFFFFF"/>
                </a:solidFill>
                <a:latin typeface="Aptos"/>
              </a:defRPr>
            </a:pPr>
            <a:r>
              <a:t>Recommended Next Step</a:t>
            </a:r>
          </a:p>
        </p:txBody>
      </p:sp>
      <p:sp>
        <p:nvSpPr>
          <p:cNvPr id="8" name="TextBox 7"/>
          <p:cNvSpPr txBox="1"/>
          <p:nvPr/>
        </p:nvSpPr>
        <p:spPr>
          <a:xfrm>
            <a:off x="8138160" y="2788920"/>
            <a:ext cx="2743200" cy="1143000"/>
          </a:xfrm>
          <a:prstGeom prst="rect">
            <a:avLst/>
          </a:prstGeom>
          <a:noFill/>
        </p:spPr>
        <p:txBody>
          <a:bodyPr wrap="square">
            <a:spAutoFit/>
          </a:bodyPr>
          <a:lstStyle/>
          <a:p>
            <a:pPr>
              <a:defRPr sz="1700" b="1">
                <a:solidFill>
                  <a:srgbClr val="FFFFFF"/>
                </a:solidFill>
                <a:latin typeface="Aptos"/>
              </a:defRPr>
            </a:pPr>
            <a:r>
              <a:t>Select one priority use case, define success metrics, and develop a focused prototype.</a:t>
            </a:r>
          </a:p>
        </p:txBody>
      </p:sp>
      <p:sp>
        <p:nvSpPr>
          <p:cNvPr id="9" name="TextBox 8"/>
          <p:cNvSpPr txBox="1"/>
          <p:nvPr/>
        </p:nvSpPr>
        <p:spPr>
          <a:xfrm>
            <a:off x="731520" y="5532120"/>
            <a:ext cx="7315200" cy="411480"/>
          </a:xfrm>
          <a:prstGeom prst="rect">
            <a:avLst/>
          </a:prstGeom>
          <a:noFill/>
        </p:spPr>
        <p:txBody>
          <a:bodyPr wrap="square">
            <a:spAutoFit/>
          </a:bodyPr>
          <a:lstStyle/>
          <a:p>
            <a:pPr>
              <a:defRPr sz="1800" b="1">
                <a:solidFill>
                  <a:srgbClr val="2A5F91"/>
                </a:solidFill>
                <a:latin typeface="Aptos"/>
              </a:defRPr>
            </a:pPr>
            <a:r>
              <a:t>Start focused. Measure value. Scale what works.</a:t>
            </a:r>
          </a:p>
        </p:txBody>
      </p:sp>
      <p:sp>
        <p:nvSpPr>
          <p:cNvPr id="10" name="TextBox 9"/>
          <p:cNvSpPr txBox="1"/>
          <p:nvPr/>
        </p:nvSpPr>
        <p:spPr>
          <a:xfrm>
            <a:off x="731520" y="6473952"/>
            <a:ext cx="3657600" cy="182880"/>
          </a:xfrm>
          <a:prstGeom prst="rect">
            <a:avLst/>
          </a:prstGeom>
          <a:noFill/>
        </p:spPr>
        <p:txBody>
          <a:bodyPr wrap="square">
            <a:spAutoFit/>
          </a:bodyPr>
          <a:lstStyle/>
          <a:p>
            <a:pPr>
              <a:defRPr sz="800" b="1">
                <a:solidFill>
                  <a:srgbClr val="69737D"/>
                </a:solidFill>
                <a:latin typeface="Aptos"/>
              </a:defRPr>
            </a:pPr>
            <a:r>
              <a:t>URBANCART • CONFIDENTIAL</a:t>
            </a:r>
          </a:p>
        </p:txBody>
      </p:sp>
      <p:sp>
        <p:nvSpPr>
          <p:cNvPr id="11" name="TextBox 10"/>
          <p:cNvSpPr txBox="1"/>
          <p:nvPr/>
        </p:nvSpPr>
        <p:spPr>
          <a:xfrm>
            <a:off x="10972800" y="6473952"/>
            <a:ext cx="457200" cy="182880"/>
          </a:xfrm>
          <a:prstGeom prst="rect">
            <a:avLst/>
          </a:prstGeom>
          <a:noFill/>
        </p:spPr>
        <p:txBody>
          <a:bodyPr wrap="square">
            <a:spAutoFit/>
          </a:bodyPr>
          <a:lstStyle/>
          <a:p>
            <a:pPr>
              <a:defRPr sz="800" b="1">
                <a:solidFill>
                  <a:srgbClr val="69737D"/>
                </a:solidFill>
                <a:latin typeface="Aptos"/>
              </a:defRPr>
            </a:pPr>
            <a: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