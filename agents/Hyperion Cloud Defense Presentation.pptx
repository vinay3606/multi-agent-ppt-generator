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389983"/>
            <a:ext cx="9144000" cy="8286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1639341"/>
            <a:ext cx="9144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HYPERION CLOUD DEFENSE | ARCHITECTURE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1925091"/>
            <a:ext cx="9601200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0" sz="3900" i="0" u="none">
                <a:solidFill>
                  <a:srgbClr val="0F172A"/>
                </a:solidFill>
                <a:latin typeface="Plus Jakarta Sans ExtraBold"/>
              </a:rPr>
              <a:t>Autonomous Cloud Security &amp; Real-Time Zero-Trust Enforcement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3292822"/>
            <a:ext cx="914400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575" i="0" u="none">
                <a:solidFill>
                  <a:srgbClr val="475569"/>
                </a:solidFill>
                <a:latin typeface="Inter"/>
              </a:rPr>
              <a:t>Kernel-level behavioral telemetry, automated lateral micro-quarantine, and continuous identity governance engineered for enterprise multi-cloud estates.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4704308"/>
            <a:ext cx="13144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0F172A"/>
                </a:solidFill>
                <a:latin typeface="Plus Jakarta Sans ExtraBold"/>
              </a:rPr>
              <a:t>14M+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5056733"/>
            <a:ext cx="13144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Workloads Protected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62250" y="4704308"/>
            <a:ext cx="128587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0F172A"/>
                </a:solidFill>
                <a:latin typeface="Plus Jakarta Sans ExtraBold"/>
              </a:rPr>
              <a:t>8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2250" y="5056733"/>
            <a:ext cx="12858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Mean MTTD / MTTR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7725" y="4704308"/>
            <a:ext cx="132397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0F172A"/>
                </a:solidFill>
                <a:latin typeface="Plus Jakarta Sans ExtraBold"/>
              </a:rPr>
              <a:t>FedRAMP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7725" y="5056733"/>
            <a:ext cx="13239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High &amp; SOC 2 Type II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8200" y="685800"/>
            <a:ext cx="10515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THREAT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971550"/>
            <a:ext cx="11041380" cy="434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0" sz="2850" i="0" u="none">
                <a:solidFill>
                  <a:srgbClr val="0F172A"/>
                </a:solidFill>
                <a:latin typeface="Plus Jakarta Sans ExtraBold"/>
              </a:rPr>
              <a:t>Structural Weaknesses in Multi-Cloud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1558230"/>
            <a:ext cx="85725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64748B"/>
                </a:solidFill>
                <a:latin typeface="Inter"/>
              </a:rPr>
              <a:t>Conventional perimeter firewalls cannot inspect dynamic east-west traffic across modern microservice topologies.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2529780"/>
            <a:ext cx="3149649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Lateral Microservice Drift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2882205"/>
            <a:ext cx="3149649" cy="975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Permissive internal API tokens and unsegmented VPCs allow attackers to dwell undetected for an average of 42 days across microservice tiers.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1249" y="2529780"/>
            <a:ext cx="3149649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SOC Alert Exhaustion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249" y="2882205"/>
            <a:ext cx="3149649" cy="975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Enterprise SOC teams absorb over 12,000 alerts daily. Telemetry fatigue leads analysts to overlook 64% of genuine zero-day breach indicators.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04299" y="2529780"/>
            <a:ext cx="3149649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Unregulated Over-Privilege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04299" y="2882205"/>
            <a:ext cx="3149649" cy="975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88% of enterprise IAM roles possess active read-write credentials far exceeding operational needs, widening breach blast radiuses.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8200" y="685800"/>
            <a:ext cx="10515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AUTONOMOUS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971550"/>
            <a:ext cx="11041380" cy="434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0" sz="2850" i="0" u="none">
                <a:solidFill>
                  <a:srgbClr val="0F172A"/>
                </a:solidFill>
                <a:latin typeface="Plus Jakarta Sans ExtraBold"/>
              </a:rPr>
              <a:t>Three Core Technological Innovations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1558230"/>
            <a:ext cx="85725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64748B"/>
                </a:solidFill>
                <a:latin typeface="Inter"/>
              </a:rPr>
              <a:t>Direct kernel inspection combined with graph analytics eliminates blind spots and automates mitigation.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2272605"/>
            <a:ext cx="3149649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PILLAR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2510730"/>
            <a:ext cx="3307132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0F172A"/>
                </a:solidFill>
                <a:latin typeface="Plus Jakarta Sans"/>
              </a:rPr>
              <a:t>eBPF Telemetry Mesh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882205"/>
            <a:ext cx="3149649" cy="975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Executes directly inside the Linux kernel to inspect system calls, socket activations, and process states without invasive container sidecars.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4009727"/>
            <a:ext cx="3149649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2563EB"/>
                </a:solidFill>
                <a:latin typeface="Inter SemiBold"/>
              </a:rPr>
              <a:t>Under 0.8% CPU utilization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1249" y="2272605"/>
            <a:ext cx="3149649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PILLAR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1249" y="2510730"/>
            <a:ext cx="3307132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0F172A"/>
                </a:solidFill>
                <a:latin typeface="Plus Jakarta Sans"/>
              </a:rPr>
              <a:t>Graph Attack Modeling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1249" y="2882205"/>
            <a:ext cx="3149649" cy="975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Synthesizes live identity tokens, transient network hops, and known CVE databases into an attack graph to suppress operational noise.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1249" y="4009727"/>
            <a:ext cx="3149649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2563EB"/>
                </a:solidFill>
                <a:latin typeface="Inter SemiBold"/>
              </a:rPr>
              <a:t>94% false-positive reduction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4299" y="2272605"/>
            <a:ext cx="3149649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PILLAR 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4299" y="2510730"/>
            <a:ext cx="3307132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0F172A"/>
                </a:solidFill>
                <a:latin typeface="Plus Jakarta Sans"/>
              </a:rPr>
              <a:t>Targeted Micro-Quarantine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4299" y="2882205"/>
            <a:ext cx="3149649" cy="975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Isolates compromised container pods at wire speed in milliseconds, neutralizing malicious egress without interrupting cluster throughput.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4299" y="4009727"/>
            <a:ext cx="3149649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2563EB"/>
                </a:solidFill>
                <a:latin typeface="Inter SemiBold"/>
              </a:rPr>
              <a:t>Zero downtime enforcement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8200" y="685800"/>
            <a:ext cx="10515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GOVERNANCE &amp;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971550"/>
            <a:ext cx="11041380" cy="434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0" sz="2850" i="0" u="none">
                <a:solidFill>
                  <a:srgbClr val="0F172A"/>
                </a:solidFill>
                <a:latin typeface="Plus Jakarta Sans ExtraBold"/>
              </a:rPr>
              <a:t>Enterprise Zero-Trust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1558230"/>
            <a:ext cx="85725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64748B"/>
                </a:solidFill>
                <a:latin typeface="Inter"/>
              </a:rPr>
              <a:t>Standardizing continuous compliance, runtime armor, and credential minimization across all cloud providers.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2491680"/>
            <a:ext cx="52006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Zero-Standing Privilege (ZSP)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2796480"/>
            <a:ext cx="4953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Employs dynamic, just-in-time privilege synthesis. High-privilege tokens automatically expire and purge immediately upon active session closure.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491680"/>
            <a:ext cx="52006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Kubernetes Runtime Armor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796480"/>
            <a:ext cx="4953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Enforces low-level kernel barriers that prevent remote code execution (RCE), binary injection, and unauthorized cryptojacking payloads.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4522440"/>
            <a:ext cx="52006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Continuous Automated Compliance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827240"/>
            <a:ext cx="4953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Continuous evidence gathering mapped against PCI-DSS 4.0, HIPAA, and ISO 27001, lowering audit preparation timelines by 75%.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522440"/>
            <a:ext cx="52006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Multi-Cloud Posture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827240"/>
            <a:ext cx="4953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Delivers unified visibility and policy parity across AWS, Microsoft Azure, Google Cloud Platform, and private OpenShift installations.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872805"/>
            <a:ext cx="10515600" cy="952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685800"/>
            <a:ext cx="10515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MEASURABLE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971550"/>
            <a:ext cx="11041380" cy="434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0" sz="2850" i="0" u="none">
                <a:solidFill>
                  <a:srgbClr val="0F172A"/>
                </a:solidFill>
                <a:latin typeface="Plus Jakarta Sans ExtraBold"/>
              </a:rPr>
              <a:t>Quantified Business Impact &amp;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558230"/>
            <a:ext cx="85725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64748B"/>
                </a:solidFill>
                <a:latin typeface="Inter"/>
              </a:rPr>
              <a:t>Verified production customer deployments demonstrate immediate reduction in exposure and operational expense.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4149030"/>
            <a:ext cx="105156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CASE BENCHMARK — TIER-1 GLOBAL FINANCIAL INSTITUTION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4368105"/>
            <a:ext cx="990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Secured 240,000 hybrid compute endpoints across AWS and on-premise clusters. Hyperion isolated an active supply-chain API credential compromise within 45 seconds of reconnaissance, preventing data exfiltration with zero impact on banking transactions.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453580"/>
            <a:ext cx="25908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b="0" sz="4200" i="0" u="none">
                <a:solidFill>
                  <a:srgbClr val="0F172A"/>
                </a:solidFill>
                <a:latin typeface="Plus Jakarta Sans ExtraBold"/>
              </a:rPr>
              <a:t>87%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063180"/>
            <a:ext cx="2590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MTTD Acceleration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291780"/>
            <a:ext cx="25908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Mean detection reduced from 4.2h to 8m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453580"/>
            <a:ext cx="2286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b="0" sz="4200" i="0" u="none">
                <a:solidFill>
                  <a:srgbClr val="0F172A"/>
                </a:solidFill>
                <a:latin typeface="Plus Jakarta Sans ExtraBold"/>
              </a:rPr>
              <a:t>$14.6M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063180"/>
            <a:ext cx="2286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Loss Avoidance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291780"/>
            <a:ext cx="2286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Average damages averted per client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2453580"/>
            <a:ext cx="2286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b="0" sz="4200" i="0" u="none">
                <a:solidFill>
                  <a:srgbClr val="0F172A"/>
                </a:solidFill>
                <a:latin typeface="Plus Jakarta Sans ExtraBold"/>
              </a:rPr>
              <a:t>62%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3063180"/>
            <a:ext cx="2286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SOC OpEx Reduction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3291780"/>
            <a:ext cx="2286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Autonomous alert triage suppression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8200" y="685800"/>
            <a:ext cx="10515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IMPLEMENTATION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971550"/>
            <a:ext cx="11041380" cy="434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0" sz="2850" i="0" u="none">
                <a:solidFill>
                  <a:srgbClr val="0F172A"/>
                </a:solidFill>
                <a:latin typeface="Plus Jakarta Sans ExtraBold"/>
              </a:rPr>
              <a:t>90-Day Phased Enterprise Rollout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1558230"/>
            <a:ext cx="85725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64748B"/>
                </a:solidFill>
                <a:latin typeface="Inter"/>
              </a:rPr>
              <a:t>A structured, zero-friction path from read-only telemetry to automated runtime protection.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2348805"/>
            <a:ext cx="3149649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2563EB"/>
                </a:solidFill>
                <a:latin typeface="Plus Jakarta Sans ExtraBold"/>
              </a:rPr>
              <a:t>PHASE 01 : DAYS 1 –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2577405"/>
            <a:ext cx="3307132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0F172A"/>
                </a:solidFill>
                <a:latin typeface="Plus Jakarta Sans"/>
              </a:rPr>
              <a:t>Telemetry Ingestion &amp; Probe Rollout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206055"/>
            <a:ext cx="314964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Deploy read-only cloud API connectors and non-intrusive eBPF daemon sets across all staging and production cluster nodes without modifying host application code.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249" y="2348805"/>
            <a:ext cx="3149649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2563EB"/>
                </a:solidFill>
                <a:latin typeface="Plus Jakarta Sans ExtraBold"/>
              </a:rPr>
              <a:t>PHASE 02 : DAYS 31 – 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1249" y="2577405"/>
            <a:ext cx="3307132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0F172A"/>
                </a:solidFill>
                <a:latin typeface="Plus Jakarta Sans"/>
              </a:rPr>
              <a:t>Behavioral Baselines &amp; Attack 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1249" y="3206055"/>
            <a:ext cx="314964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Machine-learning engines establish normal behavioral boundaries, correlate standing IAM entitlements, and identify dormant lateral pathways.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04299" y="2348805"/>
            <a:ext cx="3149649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2563EB"/>
                </a:solidFill>
                <a:latin typeface="Plus Jakarta Sans ExtraBold"/>
              </a:rPr>
              <a:t>PHASE 03 : DAYS 61 – 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4299" y="2577405"/>
            <a:ext cx="3307132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0F172A"/>
                </a:solidFill>
                <a:latin typeface="Plus Jakarta Sans"/>
              </a:rPr>
              <a:t>Autonomous Response &amp; SIEM/SOAR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4299" y="3206055"/>
            <a:ext cx="314964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Activation of automated micro-quarantine rules, executive governance dashboards, and real-time webhook routing into SIEM/SOAR platforms.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753100"/>
            <a:ext cx="10515600" cy="4191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685800"/>
            <a:ext cx="10515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ENGAGEMENT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971550"/>
            <a:ext cx="11041380" cy="434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0" sz="2850" i="0" u="none">
                <a:solidFill>
                  <a:srgbClr val="0F172A"/>
                </a:solidFill>
                <a:latin typeface="Plus Jakarta Sans ExtraBold"/>
              </a:rPr>
              <a:t>Immediate Proof-of-Value Pathways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558230"/>
            <a:ext cx="85725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64748B"/>
                </a:solidFill>
                <a:latin typeface="Inter"/>
              </a:rPr>
              <a:t>Rapid risk assessment options to validate coverage before production expansion.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5991225"/>
            <a:ext cx="44005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0F172A"/>
                </a:solidFill>
                <a:latin typeface="Inter SemiBold"/>
              </a:rPr>
              <a:t>Hyperion Cloud Defense Inc. — Enterprise Architecture Division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39025" y="6000750"/>
            <a:ext cx="39147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2563EB"/>
                </a:solidFill>
                <a:latin typeface="Inter SemiBold"/>
              </a:rPr>
              <a:t>contact@hyperioncloud.defense | www.hyperiondefense.ai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272605"/>
            <a:ext cx="3307132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14-Day Attack Surface Audit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605980"/>
            <a:ext cx="314964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Complimentary discovery assessment across multi-cloud identity perimeters and container clusters with zero operational friction.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1249" y="2272605"/>
            <a:ext cx="3307132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Proof-of-Value Sandbox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1249" y="2605980"/>
            <a:ext cx="314964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Deploy an isolated testing environment to simulate active APT exploits and evaluate live eBPF micro-quarantine triggers.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4299" y="2272605"/>
            <a:ext cx="3307132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Executive CISO Scorecard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4299" y="2605980"/>
            <a:ext cx="314964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Receive a custom risk mitigation matrix, regulatory compliance posture score, and projected operational ROI roadmap.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